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g/57/oEVeSrcwznFfhtlDImIMi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27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5db95db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5db95db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6058c0b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6058c0b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6058c0b4d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6058c0b4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5db95db1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5db95db1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6058c0b4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6058c0b4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6058c0b4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6058c0b4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7" name="Google Shape;17;p2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18" name="Google Shape;18;p2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2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4" name="Google Shape;34;p28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5" name="Google Shape;35;p28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0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30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5" name="Google Shape;4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1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31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" name="Google Shape;50;p31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2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2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5" name="Google Shape;5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3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33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9" name="Google Shape;5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6058c0b4d_0_77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66" name="Google Shape;66;g3d6058c0b4d_0_77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g3d6058c0b4d_0_77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8" name="Google Shape;68;g3d6058c0b4d_0_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6058c0b4d_0_82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71" name="Google Shape;71;g3d6058c0b4d_0_82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72" name="Google Shape;72;g3d6058c0b4d_0_82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3" name="Google Shape;73;g3d6058c0b4d_0_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6058c0b4d_0_87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d6058c0b4d_0_87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7" name="Google Shape;77;g3d6058c0b4d_0_87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78" name="Google Shape;78;g3d6058c0b4d_0_8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d6058c0b4d_0_8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0" name="Google Shape;80;g3d6058c0b4d_0_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6058c0b4d_0_94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d6058c0b4d_0_9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g3d6058c0b4d_0_94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5" name="Google Shape;85;g3d6058c0b4d_0_94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6" name="Google Shape;86;g3d6058c0b4d_0_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6058c0b4d_0_100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d6058c0b4d_0_10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g3d6058c0b4d_0_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6058c0b4d_0_104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6058c0b4d_0_104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g3d6058c0b4d_0_104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5" name="Google Shape;95;g3d6058c0b4d_0_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6058c0b4d_0_109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8" name="Google Shape;98;g3d6058c0b4d_0_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6058c0b4d_0_11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6058c0b4d_0_112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g3d6058c0b4d_0_112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3" name="Google Shape;103;g3d6058c0b4d_0_112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g3d6058c0b4d_0_1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6058c0b4d_0_118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d6058c0b4d_0_118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108" name="Google Shape;108;g3d6058c0b4d_0_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6058c0b4d_0_122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1" name="Google Shape;111;g3d6058c0b4d_0_122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2" name="Google Shape;112;g3d6058c0b4d_0_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6058c0b4d_0_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sh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6058c0b4d_0_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62" name="Google Shape;62;g3d6058c0b4d_0_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g3d6058c0b4d_0_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sh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smal.is.tue.mpg.de/" TargetMode="External"/><Relationship Id="rId4" Type="http://schemas.openxmlformats.org/officeDocument/2006/relationships/hyperlink" Target="https://smalr.is.tue.mpg.de/" TargetMode="External"/><Relationship Id="rId5" Type="http://schemas.openxmlformats.org/officeDocument/2006/relationships/hyperlink" Target="https://hbaatz.github.io/nerf-tex/" TargetMode="External"/><Relationship Id="rId6" Type="http://schemas.openxmlformats.org/officeDocument/2006/relationships/hyperlink" Target="https://yihua7.github.io/NeRF-Texture-web/" TargetMode="External"/><Relationship Id="rId7" Type="http://schemas.openxmlformats.org/officeDocument/2006/relationships/hyperlink" Target="https://repo-sam.inria.fr/fungraph/3d-gaussian-splatting/" TargetMode="External"/><Relationship Id="rId8" Type="http://schemas.openxmlformats.org/officeDocument/2006/relationships/hyperlink" Target="https://www.matthewtancik.com/nerf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387275" y="539850"/>
            <a:ext cx="7403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sk"/>
              <a:t>Hybridná reprezentácia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sk"/>
              <a:t>na neurálno parametrický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sk"/>
              <a:t>3D model zvieraťa</a:t>
            </a:r>
            <a:endParaRPr/>
          </a:p>
          <a:p>
            <a:pPr indent="-4343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sk"/>
              <a:t>Plán a postup práce</a:t>
            </a:r>
            <a:endParaRPr/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4508850" y="3449525"/>
            <a:ext cx="4323600" cy="13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sk">
                <a:solidFill>
                  <a:schemeClr val="accent3"/>
                </a:solidFill>
              </a:rPr>
              <a:t>Paulína Jančárová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sk">
                <a:solidFill>
                  <a:schemeClr val="accent3"/>
                </a:solidFill>
              </a:rPr>
              <a:t>Školiteľ:</a:t>
            </a:r>
            <a:r>
              <a:rPr lang="sk">
                <a:solidFill>
                  <a:schemeClr val="accent3"/>
                </a:solidFill>
              </a:rPr>
              <a:t> Mgr. Martin Halaj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sk">
                <a:solidFill>
                  <a:schemeClr val="accent3"/>
                </a:solidFill>
              </a:rPr>
              <a:t>Konzultant</a:t>
            </a:r>
            <a:r>
              <a:rPr b="1" lang="sk">
                <a:solidFill>
                  <a:schemeClr val="accent3"/>
                </a:solidFill>
              </a:rPr>
              <a:t>:</a:t>
            </a:r>
            <a:r>
              <a:rPr lang="sk">
                <a:solidFill>
                  <a:schemeClr val="accent3"/>
                </a:solidFill>
              </a:rPr>
              <a:t> doc. RNDr. Martin Madaras, PhD.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sk"/>
              <a:t>Parametrický 3D model zvieraťa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sk">
                <a:solidFill>
                  <a:schemeClr val="accent3"/>
                </a:solidFill>
              </a:rPr>
              <a:t>SMAL - Skinned Multi-Animal Linear Model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31" name="Google Shape;131;p4"/>
          <p:cNvSpPr txBox="1"/>
          <p:nvPr>
            <p:ph idx="1" type="body"/>
          </p:nvPr>
        </p:nvSpPr>
        <p:spPr>
          <a:xfrm>
            <a:off x="311700" y="1505700"/>
            <a:ext cx="85206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sk" sz="1500"/>
              <a:t>3D parametrický model zvieraťa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sk" sz="1500"/>
              <a:t>Rôzne druhy štvornohých zvierat v rôznych pózach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sk" sz="1500"/>
              <a:t>Natrénovaný zo sady 3D skenov realistických figúrok zvierat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sk" sz="1500"/>
              <a:t>Predstavený model GLoSS - počiatočná registrácia</a:t>
            </a:r>
            <a:endParaRPr sz="1500"/>
          </a:p>
        </p:txBody>
      </p:sp>
      <p:pic>
        <p:nvPicPr>
          <p:cNvPr id="132" name="Google Shape;132;p4"/>
          <p:cNvPicPr preferRelativeResize="0"/>
          <p:nvPr/>
        </p:nvPicPr>
        <p:blipFill rotWithShape="1">
          <a:blip r:embed="rId3">
            <a:alphaModFix/>
          </a:blip>
          <a:srcRect b="34236" l="0" r="0" t="0"/>
          <a:stretch/>
        </p:blipFill>
        <p:spPr>
          <a:xfrm>
            <a:off x="25" y="2843602"/>
            <a:ext cx="9144000" cy="221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sk"/>
              <a:t>‹#›</a:t>
            </a:fld>
            <a:r>
              <a:rPr lang="sk"/>
              <a:t>/12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5db95db19_0_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accent3"/>
                </a:solidFill>
              </a:rPr>
              <a:t>SMALR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39" name="Google Shape;139;g3d5db95db19_0_0"/>
          <p:cNvSpPr txBox="1"/>
          <p:nvPr>
            <p:ph idx="1" type="body"/>
          </p:nvPr>
        </p:nvSpPr>
        <p:spPr>
          <a:xfrm>
            <a:off x="311700" y="1320800"/>
            <a:ext cx="8520600" cy="15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sk" sz="1500"/>
              <a:t>3D štvornohé zvieratá z obrázka alebo z videa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sk" sz="1500"/>
              <a:t>Úprava parametrov pózy a tvaru pre model SMAL a parametrov kamery, až kým premietnutie modelu SMAL nezodpovedá kľúčovým bodom a siluetám extrahovaných zo vstupného obrázka / videa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sk" sz="1500"/>
              <a:t>Dokáže z fotiek </a:t>
            </a:r>
            <a:r>
              <a:rPr lang="sk" sz="1500"/>
              <a:t>vytvoriť</a:t>
            </a:r>
            <a:r>
              <a:rPr lang="sk" sz="1500"/>
              <a:t> aj jednoduchú textúru pre model</a:t>
            </a:r>
            <a:endParaRPr sz="1500"/>
          </a:p>
        </p:txBody>
      </p:sp>
      <p:pic>
        <p:nvPicPr>
          <p:cNvPr id="140" name="Google Shape;140;g3d5db95db1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563" y="2863800"/>
            <a:ext cx="8406863" cy="227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d5db95db19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sk"/>
              <a:t>‹#›</a:t>
            </a:fld>
            <a:r>
              <a:rPr lang="sk"/>
              <a:t>/12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sk"/>
              <a:t>3DGS reprezentácia srsti zvieraťa</a:t>
            </a:r>
            <a:endParaRPr/>
          </a:p>
        </p:txBody>
      </p:sp>
      <p:sp>
        <p:nvSpPr>
          <p:cNvPr id="147" name="Google Shape;1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sk"/>
              <a:t>‹#›</a:t>
            </a:fld>
            <a:r>
              <a:rPr lang="sk"/>
              <a:t>/12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6058c0b4d_0_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accent3"/>
                </a:solidFill>
              </a:rPr>
              <a:t>Výhoda 3DGS oproti NeRF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53" name="Google Shape;153;g3d6058c0b4d_0_0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/>
              <a:t>3DGS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sk"/>
              <a:t>Výsledkom tréningu je </a:t>
            </a:r>
            <a:r>
              <a:rPr b="1" lang="sk"/>
              <a:t>explicitná reprezentácia scény</a:t>
            </a:r>
            <a:r>
              <a:rPr lang="sk"/>
              <a:t>, kde každý gaussian má priamo uložené svoje vlastnosti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-&gt; </a:t>
            </a:r>
            <a:r>
              <a:rPr lang="sk">
                <a:solidFill>
                  <a:schemeClr val="accent5"/>
                </a:solidFill>
              </a:rPr>
              <a:t>Rýchlejší rendering, často možný aj v reálnom čase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/>
              <a:t>NeRF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sk"/>
              <a:t>Výsledkom tréningu je </a:t>
            </a:r>
            <a:r>
              <a:rPr b="1" lang="sk"/>
              <a:t>neurálna sieť</a:t>
            </a:r>
            <a:r>
              <a:rPr lang="sk"/>
              <a:t>, ktorá musí počas vykresľovania opakovane vypočítavať hodnoty farby a hustoty pre jednotlivé body v priestore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-&gt; </a:t>
            </a:r>
            <a:r>
              <a:rPr lang="sk">
                <a:solidFill>
                  <a:srgbClr val="980000"/>
                </a:solidFill>
              </a:rPr>
              <a:t>Pomalší rendering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54" name="Google Shape;154;g3d6058c0b4d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sk"/>
              <a:t>‹#›</a:t>
            </a:fld>
            <a:r>
              <a:rPr lang="sk"/>
              <a:t>/12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6058c0b4d_0_12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accent3"/>
                </a:solidFill>
              </a:rPr>
              <a:t>Dáta na tréning 3DGS srsti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60" name="Google Shape;160;g3d6058c0b4d_0_12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sk"/>
              <a:t>Reálne dáta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100"/>
              <a:buChar char="-"/>
            </a:pPr>
            <a:r>
              <a:rPr lang="sk">
                <a:solidFill>
                  <a:srgbClr val="980000"/>
                </a:solidFill>
              </a:rPr>
              <a:t>Logisticky náročné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sk"/>
              <a:t>Umelé dáta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sk"/>
              <a:t>Nástroje na tvorbu realistickej srsti v Blenderi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sk"/>
              <a:t>Neurálne dáta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sk"/>
              <a:t>NeRF-Tex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sk"/>
              <a:t>NeRF-Texture</a:t>
            </a:r>
            <a:endParaRPr/>
          </a:p>
        </p:txBody>
      </p:sp>
      <p:sp>
        <p:nvSpPr>
          <p:cNvPr id="161" name="Google Shape;161;g3d6058c0b4d_0_1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sk"/>
              <a:t>‹#›</a:t>
            </a:fld>
            <a:r>
              <a:rPr lang="sk"/>
              <a:t>/12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5db95db19_0_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accent3"/>
                </a:solidFill>
              </a:rPr>
              <a:t>NeRF-Tex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67" name="Google Shape;167;g3d5db95db19_0_6"/>
          <p:cNvSpPr txBox="1"/>
          <p:nvPr>
            <p:ph idx="1" type="body"/>
          </p:nvPr>
        </p:nvSpPr>
        <p:spPr>
          <a:xfrm>
            <a:off x="311700" y="1505700"/>
            <a:ext cx="8520600" cy="12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sk"/>
              <a:t>Umožňuje natrénovať neurálnu reprezentáciu materiálu z malej vzorky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sk"/>
              <a:t>Túto reprezentáciu následne možno aplikovať na 3D modely rôznych tvarov</a:t>
            </a:r>
            <a:endParaRPr/>
          </a:p>
        </p:txBody>
      </p:sp>
      <p:pic>
        <p:nvPicPr>
          <p:cNvPr id="168" name="Google Shape;168;g3d5db95db19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7875" y="2746200"/>
            <a:ext cx="5168247" cy="239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d5db95db19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sk"/>
              <a:t>‹#›</a:t>
            </a:fld>
            <a:r>
              <a:rPr lang="sk"/>
              <a:t>/12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6058c0b4d_0_6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accent3"/>
                </a:solidFill>
              </a:rPr>
              <a:t>NeRF-Texture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75" name="Google Shape;175;g3d6058c0b4d_0_67"/>
          <p:cNvSpPr txBox="1"/>
          <p:nvPr>
            <p:ph idx="1" type="body"/>
          </p:nvPr>
        </p:nvSpPr>
        <p:spPr>
          <a:xfrm>
            <a:off x="4572000" y="1317300"/>
            <a:ext cx="4166400" cy="250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sk" sz="1500"/>
              <a:t>Metóda na zachytenie a tvorbu textúry z obrázkov z rôznych uhlov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sk" sz="1500"/>
              <a:t>Oddeľuje štruktúru textúry od podkladového tvaru</a:t>
            </a:r>
            <a:endParaRPr sz="1500"/>
          </a:p>
        </p:txBody>
      </p:sp>
      <p:pic>
        <p:nvPicPr>
          <p:cNvPr id="176" name="Google Shape;176;g3d6058c0b4d_0_67" title="starflower_application2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96050"/>
            <a:ext cx="4791075" cy="269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d6058c0b4d_0_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r>
              <a:rPr lang="sk"/>
              <a:t>/12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6058c0b4d_0_14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accent3"/>
                </a:solidFill>
              </a:rPr>
              <a:t>Možné prístupy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83" name="Google Shape;183;g3d6058c0b4d_0_143"/>
          <p:cNvSpPr txBox="1"/>
          <p:nvPr>
            <p:ph idx="1" type="body"/>
          </p:nvPr>
        </p:nvSpPr>
        <p:spPr>
          <a:xfrm>
            <a:off x="311700" y="1505700"/>
            <a:ext cx="85206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sk"/>
              <a:t>Tvorba srsti SMAL modelu v Blenderi -&gt; Tréning 3DGS na týchto dátach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300"/>
              <a:buChar char="-"/>
            </a:pPr>
            <a:r>
              <a:rPr lang="sk"/>
              <a:t>Tréning NeRF-Texu na vzorkách materiálov -&gt; Aplikácia materiálov na SMAL model pomocou NeRF-Texu -&gt; Tréning 3DGS na týchto modeloch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sk"/>
              <a:t>Zachytenie reálnych dát na tréning NeRF-Texture -&gt; Tréning NeRF-Texture na reálnych materiáloch -&gt; Aplikácia týchto materiálov na SMAL model -&gt; Tréning 3DGS na týchto modeloch</a:t>
            </a:r>
            <a:endParaRPr/>
          </a:p>
        </p:txBody>
      </p:sp>
      <p:sp>
        <p:nvSpPr>
          <p:cNvPr id="184" name="Google Shape;184;g3d6058c0b4d_0_1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r>
              <a:rPr lang="sk"/>
              <a:t>/12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sk">
                <a:solidFill>
                  <a:schemeClr val="accent3"/>
                </a:solidFill>
              </a:rPr>
              <a:t>Zdroje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90" name="Google Shape;190;p20"/>
          <p:cNvSpPr txBox="1"/>
          <p:nvPr>
            <p:ph idx="1" type="body"/>
          </p:nvPr>
        </p:nvSpPr>
        <p:spPr>
          <a:xfrm>
            <a:off x="311700" y="1505700"/>
            <a:ext cx="85206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sk" u="sng">
                <a:solidFill>
                  <a:schemeClr val="hlink"/>
                </a:solidFill>
                <a:hlinkClick r:id="rId3"/>
              </a:rPr>
              <a:t>https://smal.is.tue.mpg.de/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sk" u="sng">
                <a:solidFill>
                  <a:schemeClr val="hlink"/>
                </a:solidFill>
                <a:hlinkClick r:id="rId4"/>
              </a:rPr>
              <a:t>https://smalr.is.tue.mpg.de/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sk" u="sng">
                <a:solidFill>
                  <a:schemeClr val="hlink"/>
                </a:solidFill>
                <a:hlinkClick r:id="rId5"/>
              </a:rPr>
              <a:t>https://hbaatz.github.io/nerf-tex/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sk" u="sng">
                <a:solidFill>
                  <a:schemeClr val="hlink"/>
                </a:solidFill>
                <a:hlinkClick r:id="rId6"/>
              </a:rPr>
              <a:t>https://yihua7.github.io/NeRF-Texture-web/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sk" u="sng">
                <a:solidFill>
                  <a:schemeClr val="hlink"/>
                </a:solidFill>
                <a:hlinkClick r:id="rId7"/>
              </a:rPr>
              <a:t>https://repo-sam.inria.fr/fungraph/3d-gaussian-splatting/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sk" u="sng">
                <a:solidFill>
                  <a:schemeClr val="hlink"/>
                </a:solidFill>
                <a:hlinkClick r:id="rId8"/>
              </a:rPr>
              <a:t>https://www.matthewtancik.com/nerf</a:t>
            </a:r>
            <a:endParaRPr/>
          </a:p>
        </p:txBody>
      </p:sp>
      <p:sp>
        <p:nvSpPr>
          <p:cNvPr id="191" name="Google Shape;19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sk"/>
              <a:t>‹#›</a:t>
            </a:fld>
            <a:r>
              <a:rPr lang="sk"/>
              <a:t>/12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sk"/>
              <a:t>Ďakujem za pozornosť!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